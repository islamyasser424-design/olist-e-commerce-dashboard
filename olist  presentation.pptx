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73" r:id="rId4"/>
    <p:sldId id="274" r:id="rId5"/>
    <p:sldId id="275" r:id="rId6"/>
    <p:sldId id="276" r:id="rId7"/>
    <p:sldId id="277" r:id="rId8"/>
    <p:sldId id="257" r:id="rId9"/>
    <p:sldId id="271" r:id="rId10"/>
    <p:sldId id="272" r:id="rId11"/>
    <p:sldId id="270" r:id="rId12"/>
  </p:sldIdLst>
  <p:sldSz cx="18288000" cy="10287000"/>
  <p:notesSz cx="6858000" cy="9144000"/>
  <p:embeddedFontLst>
    <p:embeddedFont>
      <p:font typeface="League Spartan" panose="020B0604020202020204" charset="0"/>
      <p:regular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Segoe UI Black" panose="020B0A02040204020203" pitchFamily="34" charset="0"/>
      <p:bold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5AEE7-F2D6-4B68-B70D-77B026D22D6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00CA0-D370-417C-A891-C0FF12236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4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20957" y="4506120"/>
            <a:ext cx="9846085" cy="1418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sz="8265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38600" y="3467100"/>
            <a:ext cx="9753600" cy="851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sz="4800" b="1" dirty="0" err="1">
                <a:latin typeface="Poppins" panose="00000500000000000000" pitchFamily="2" charset="0"/>
                <a:cs typeface="Poppins" panose="00000500000000000000" pitchFamily="2" charset="0"/>
              </a:rPr>
              <a:t>Olist</a:t>
            </a:r>
            <a:r>
              <a:rPr lang="en-US" sz="4800" b="1" dirty="0">
                <a:latin typeface="Poppins" panose="00000500000000000000" pitchFamily="2" charset="0"/>
                <a:cs typeface="Poppins" panose="00000500000000000000" pitchFamily="2" charset="0"/>
              </a:rPr>
              <a:t> E-Commerce Analytics</a:t>
            </a:r>
            <a:r>
              <a:rPr lang="en-US" sz="4800" b="1" dirty="0">
                <a:solidFill>
                  <a:srgbClr val="303642"/>
                </a:solidFill>
                <a:latin typeface="Poppins" panose="00000500000000000000" pitchFamily="2" charset="0"/>
                <a:ea typeface="Roboto Bold"/>
                <a:cs typeface="Poppins" panose="00000500000000000000" pitchFamily="2" charset="0"/>
                <a:sym typeface="Roboto Bold"/>
              </a:rPr>
              <a:t>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F9064CA-6FC0-8AFD-43FD-4814BF68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70" y="1329172"/>
            <a:ext cx="2989058" cy="29890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57175" y="4502250"/>
            <a:ext cx="18802350" cy="2006600"/>
            <a:chOff x="0" y="0"/>
            <a:chExt cx="4952059" cy="5284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52059" cy="528487"/>
            </a:xfrm>
            <a:custGeom>
              <a:avLst/>
              <a:gdLst/>
              <a:ahLst/>
              <a:cxnLst/>
              <a:rect l="l" t="t" r="r" b="b"/>
              <a:pathLst>
                <a:path w="4952059" h="528487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69038" y="1884385"/>
            <a:ext cx="13580561" cy="892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4400" dirty="0">
                <a:solidFill>
                  <a:srgbClr val="004AAD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  <a:sym typeface="League Spartan"/>
              </a:rPr>
              <a:t>TECHNICAL &amp; ANALYTICAL FRAMEWORK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71087" y="2794493"/>
            <a:ext cx="8145827" cy="383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Cleaning &amp; Modeling to Actionable Business Insights.</a:t>
            </a:r>
            <a:endParaRPr lang="en-US" sz="2219" dirty="0">
              <a:solidFill>
                <a:srgbClr val="303642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69039" y="5029897"/>
            <a:ext cx="3263886" cy="898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3600" b="1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League Spartan"/>
                <a:sym typeface="League Spartan"/>
              </a:rPr>
              <a:t>Power 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9988" y="5029897"/>
            <a:ext cx="3755747" cy="898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3600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League Spartan"/>
                <a:sym typeface="League Spartan"/>
              </a:rPr>
              <a:t>Data Modeling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55074" y="5029897"/>
            <a:ext cx="3755747" cy="898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3600" b="1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League Spartan"/>
                <a:sym typeface="League Spartan"/>
              </a:rPr>
              <a:t>DAX Measures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7178" y="7356575"/>
            <a:ext cx="4247608" cy="157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 dirty="0">
                <a:solidFill>
                  <a:srgbClr val="303642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Cleans and transforms raw data, resolves missing values, and categorizes financial reconciliation anomalies.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18128" y="7356575"/>
            <a:ext cx="4247608" cy="1159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 dirty="0">
                <a:solidFill>
                  <a:srgbClr val="303642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Builds a Star Schema to connect Fact and Dimension tables for fast, dynamic cross-filtering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63214" y="7356575"/>
            <a:ext cx="4247608" cy="1159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 dirty="0">
                <a:solidFill>
                  <a:srgbClr val="303642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Calculates key metrics (KPIs) like Total Revenue, AOV, installment tiers, and delivery delay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94" y="1257300"/>
            <a:ext cx="18288000" cy="1046782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ctr"/>
            <a:endParaRPr lang="en-US" sz="36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35" name="Group 3">
            <a:extLst>
              <a:ext uri="{FF2B5EF4-FFF2-40B4-BE49-F238E27FC236}">
                <a16:creationId xmlns:a16="http://schemas.microsoft.com/office/drawing/2014/main" id="{9EC075C9-F0E1-69FC-ADFB-9578F3190A75}"/>
              </a:ext>
            </a:extLst>
          </p:cNvPr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36" name="Freeform 4">
              <a:extLst>
                <a:ext uri="{FF2B5EF4-FFF2-40B4-BE49-F238E27FC236}">
                  <a16:creationId xmlns:a16="http://schemas.microsoft.com/office/drawing/2014/main" id="{F3AAECAA-7945-37B6-6FBA-E200759AB944}"/>
                </a:ext>
              </a:extLst>
            </p:cNvPr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C6CBBB86-A8F7-3BDA-6AF0-28E664F5ACA0}"/>
                </a:ext>
              </a:extLst>
            </p:cNvPr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265" y="-2094570"/>
            <a:ext cx="6792707" cy="1212523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64D2765-07B6-500E-C432-141F2D133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459" y="1257300"/>
            <a:ext cx="5410942" cy="37162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E4410D-D54D-5651-FBA3-1B4791E79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389" y="1257300"/>
            <a:ext cx="4807810" cy="3733800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27553E99-0141-AA48-D70F-C0E066635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65" y="2101470"/>
            <a:ext cx="686012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Power Query Transformations (Summary)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Reference Queries: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Created referenced queries 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items_dataset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 &amp;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payments</a:t>
            </a:r>
            <a:r>
              <a:rPr kumimoji="0" lang="ar-EG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dataset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) to preserve raw source tables.</a:t>
            </a:r>
            <a:br>
              <a:rPr kumimoji="0" lang="ar-EG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</a:b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Order-Level Aggregations (Group By):</a:t>
            </a:r>
            <a:br>
              <a:rPr kumimoji="0" lang="ar-E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Items: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Grouped by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order</a:t>
            </a: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 to aggregate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Total</a:t>
            </a: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Total</a:t>
            </a:r>
            <a: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Price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Total_Freight_value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.</a:t>
            </a:r>
            <a:b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Payments: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Grouped by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order_id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 &amp;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payment_type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 to calculate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Total_Payment_Value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Total_Installments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, and sequence metrics.</a:t>
            </a:r>
            <a:b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Fact Table Integration: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Merged the aggregated queries into a single unified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+mj-cs"/>
              </a:rPr>
              <a:t>Data Base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+mj-cs"/>
              </a:rPr>
              <a:t> table via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Merge Queries as New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.</a:t>
            </a:r>
            <a:b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</a:br>
            <a:b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After performing the Merge Queries operation to form the main Fact Table (Data Base), missing operational timestamps were detected for orders fully marked as delivered.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ar-EG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141B8D-339D-9941-E4B6-0045E4D74D41}"/>
              </a:ext>
            </a:extLst>
          </p:cNvPr>
          <p:cNvSpPr txBox="1"/>
          <p:nvPr/>
        </p:nvSpPr>
        <p:spPr>
          <a:xfrm>
            <a:off x="6792707" y="192755"/>
            <a:ext cx="11334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Power Query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5C338AA-5876-ACC3-5072-F948D2103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325" y="5535264"/>
            <a:ext cx="11456851" cy="412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94" y="1257300"/>
            <a:ext cx="18288000" cy="1046782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ctr"/>
            <a:endParaRPr lang="en-US" sz="36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35" name="Group 3">
            <a:extLst>
              <a:ext uri="{FF2B5EF4-FFF2-40B4-BE49-F238E27FC236}">
                <a16:creationId xmlns:a16="http://schemas.microsoft.com/office/drawing/2014/main" id="{9EC075C9-F0E1-69FC-ADFB-9578F3190A75}"/>
              </a:ext>
            </a:extLst>
          </p:cNvPr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36" name="Freeform 4">
              <a:extLst>
                <a:ext uri="{FF2B5EF4-FFF2-40B4-BE49-F238E27FC236}">
                  <a16:creationId xmlns:a16="http://schemas.microsoft.com/office/drawing/2014/main" id="{F3AAECAA-7945-37B6-6FBA-E200759AB944}"/>
                </a:ext>
              </a:extLst>
            </p:cNvPr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C6CBBB86-A8F7-3BDA-6AF0-28E664F5ACA0}"/>
                </a:ext>
              </a:extLst>
            </p:cNvPr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265" y="-2094570"/>
            <a:ext cx="6792707" cy="1212523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Rectangle 1">
            <a:extLst>
              <a:ext uri="{FF2B5EF4-FFF2-40B4-BE49-F238E27FC236}">
                <a16:creationId xmlns:a16="http://schemas.microsoft.com/office/drawing/2014/main" id="{27553E99-0141-AA48-D70F-C0E066635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5878"/>
            <a:ext cx="683297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Imputed missing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order_approved_at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 timestamps for delivered orders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order_purchase_timestamp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, as same-day order approval is standard practice.</a:t>
            </a:r>
            <a:br>
              <a:rPr kumimoji="0" lang="ar-EG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</a:br>
            <a:br>
              <a:rPr kumimoji="0" lang="ar-EG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</a:br>
            <a:br>
              <a:rPr kumimoji="0" lang="ar-EG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Imputed missing carrier dispatch dates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order_delivered_carrier_date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) for delivered orders by adding the average dispatch lead time (3 days)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order_approved_at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.</a:t>
            </a:r>
            <a:br>
              <a:rPr kumimoji="0" lang="ar-EG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</a:br>
            <a:br>
              <a:rPr kumimoji="0" lang="ar-EG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Imputed missing customer delivery dates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order_delivered_customer_date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) for delivered orders by adding the average order-to-delivery lead time (12 days) directly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order_purchase_timestamp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141B8D-339D-9941-E4B6-0045E4D74D41}"/>
              </a:ext>
            </a:extLst>
          </p:cNvPr>
          <p:cNvSpPr txBox="1"/>
          <p:nvPr/>
        </p:nvSpPr>
        <p:spPr>
          <a:xfrm>
            <a:off x="6792707" y="192755"/>
            <a:ext cx="11334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>
                <a:latin typeface="Segoe UI Black" panose="020B0A02040204020203" pitchFamily="34" charset="0"/>
                <a:ea typeface="Segoe UI Black" panose="020B0A02040204020203" pitchFamily="34" charset="0"/>
              </a:rPr>
              <a:t>Power Query</a:t>
            </a:r>
            <a:endParaRPr lang="en-US" sz="4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E6774-7085-FFDC-A263-0CCD217E7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297" y="5329200"/>
            <a:ext cx="5451206" cy="4220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113F88-486C-695E-6EA5-0D46037BE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8828" y="1235772"/>
            <a:ext cx="5410942" cy="40934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BA8F4C-4094-8BFD-BFD7-C82FB6081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0297" y="1129762"/>
            <a:ext cx="5050815" cy="40934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484A1C-21E5-43BB-6D31-4A1D321F9DC3}"/>
              </a:ext>
            </a:extLst>
          </p:cNvPr>
          <p:cNvSpPr txBox="1"/>
          <p:nvPr/>
        </p:nvSpPr>
        <p:spPr>
          <a:xfrm>
            <a:off x="8991600" y="46863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3AACEB-74D1-7179-7903-3EE4822B3968}"/>
              </a:ext>
            </a:extLst>
          </p:cNvPr>
          <p:cNvSpPr txBox="1"/>
          <p:nvPr/>
        </p:nvSpPr>
        <p:spPr>
          <a:xfrm>
            <a:off x="14683299" y="468375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EC269B-1A32-E60D-3860-59992B94AC6C}"/>
              </a:ext>
            </a:extLst>
          </p:cNvPr>
          <p:cNvSpPr txBox="1"/>
          <p:nvPr/>
        </p:nvSpPr>
        <p:spPr>
          <a:xfrm>
            <a:off x="8991600" y="897257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6086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94" y="1257300"/>
            <a:ext cx="18288000" cy="1046782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ctr"/>
            <a:endParaRPr lang="en-US" sz="36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35" name="Group 3">
            <a:extLst>
              <a:ext uri="{FF2B5EF4-FFF2-40B4-BE49-F238E27FC236}">
                <a16:creationId xmlns:a16="http://schemas.microsoft.com/office/drawing/2014/main" id="{9EC075C9-F0E1-69FC-ADFB-9578F3190A75}"/>
              </a:ext>
            </a:extLst>
          </p:cNvPr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36" name="Freeform 4">
              <a:extLst>
                <a:ext uri="{FF2B5EF4-FFF2-40B4-BE49-F238E27FC236}">
                  <a16:creationId xmlns:a16="http://schemas.microsoft.com/office/drawing/2014/main" id="{F3AAECAA-7945-37B6-6FBA-E200759AB944}"/>
                </a:ext>
              </a:extLst>
            </p:cNvPr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C6CBBB86-A8F7-3BDA-6AF0-28E664F5ACA0}"/>
                </a:ext>
              </a:extLst>
            </p:cNvPr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265" y="-2094570"/>
            <a:ext cx="6792707" cy="1212523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D141B8D-339D-9941-E4B6-0045E4D74D41}"/>
              </a:ext>
            </a:extLst>
          </p:cNvPr>
          <p:cNvSpPr txBox="1"/>
          <p:nvPr/>
        </p:nvSpPr>
        <p:spPr>
          <a:xfrm>
            <a:off x="6792707" y="192755"/>
            <a:ext cx="11334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Modeling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1EB277-E46C-F763-642F-C10B1DEAFC93}"/>
              </a:ext>
            </a:extLst>
          </p:cNvPr>
          <p:cNvSpPr txBox="1"/>
          <p:nvPr/>
        </p:nvSpPr>
        <p:spPr>
          <a:xfrm>
            <a:off x="40265" y="192755"/>
            <a:ext cx="67121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rPr>
              <a:t>Data Modeling (Power Pivot )</a:t>
            </a:r>
            <a:r>
              <a:rPr lang="ar-EG" dirty="0"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rPr>
              <a:t>:</a:t>
            </a:r>
            <a:br>
              <a:rPr lang="ar-EG" dirty="0"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rPr>
            </a:br>
            <a:br>
              <a:rPr lang="ar-EG" dirty="0">
                <a:cs typeface="+mj-cs"/>
              </a:rPr>
            </a:br>
            <a:r>
              <a:rPr lang="en-US" dirty="0">
                <a:cs typeface="+mj-cs"/>
              </a:rPr>
              <a:t>Data Modeling (Power Pivot):Central Fact Table (</a:t>
            </a:r>
            <a:r>
              <a:rPr lang="en-US" dirty="0" err="1">
                <a:cs typeface="+mj-cs"/>
              </a:rPr>
              <a:t>Data_Base</a:t>
            </a:r>
            <a:r>
              <a:rPr lang="en-US" dirty="0">
                <a:cs typeface="+mj-cs"/>
              </a:rPr>
              <a:t>)Main repository for order-level timestamps, operational metrics, and delivery statuses.</a:t>
            </a:r>
            <a:br>
              <a:rPr lang="ar-EG" dirty="0">
                <a:cs typeface="+mj-cs"/>
              </a:rPr>
            </a:br>
            <a:br>
              <a:rPr lang="ar-EG" dirty="0">
                <a:cs typeface="+mj-cs"/>
              </a:rPr>
            </a:br>
            <a:r>
              <a:rPr lang="en-US" dirty="0">
                <a:cs typeface="+mj-cs"/>
              </a:rPr>
              <a:t>1-to-Many Relationships</a:t>
            </a:r>
            <a:br>
              <a:rPr lang="ar-EG" dirty="0">
                <a:cs typeface="+mj-cs"/>
              </a:rPr>
            </a:br>
            <a:br>
              <a:rPr lang="ar-EG" dirty="0">
                <a:cs typeface="+mj-cs"/>
              </a:rPr>
            </a:br>
            <a:r>
              <a:rPr lang="en-US" dirty="0" err="1">
                <a:cs typeface="+mj-cs"/>
              </a:rPr>
              <a:t>Data_Base</a:t>
            </a:r>
            <a:r>
              <a:rPr lang="en-US" dirty="0">
                <a:cs typeface="+mj-cs"/>
              </a:rPr>
              <a:t> $\</a:t>
            </a:r>
            <a:r>
              <a:rPr lang="en-US" dirty="0" err="1">
                <a:cs typeface="+mj-cs"/>
              </a:rPr>
              <a:t>leftrightarrow</a:t>
            </a:r>
            <a:r>
              <a:rPr lang="en-US" dirty="0">
                <a:cs typeface="+mj-cs"/>
              </a:rPr>
              <a:t>$ </a:t>
            </a:r>
            <a:r>
              <a:rPr lang="en-US" dirty="0" err="1">
                <a:cs typeface="+mj-cs"/>
              </a:rPr>
              <a:t>payments_dataset</a:t>
            </a:r>
            <a:r>
              <a:rPr lang="en-US" dirty="0">
                <a:cs typeface="+mj-cs"/>
              </a:rPr>
              <a:t>: Joined on </a:t>
            </a:r>
            <a:r>
              <a:rPr lang="en-US" dirty="0" err="1">
                <a:cs typeface="+mj-cs"/>
              </a:rPr>
              <a:t>order_id</a:t>
            </a:r>
            <a:r>
              <a:rPr lang="en-US" dirty="0">
                <a:cs typeface="+mj-cs"/>
              </a:rPr>
              <a:t> to enable detailed analysis of payment types and installments</a:t>
            </a:r>
            <a:br>
              <a:rPr lang="ar-EG" dirty="0">
                <a:cs typeface="+mj-cs"/>
              </a:rPr>
            </a:br>
            <a:br>
              <a:rPr lang="ar-EG" dirty="0">
                <a:cs typeface="+mj-cs"/>
              </a:rPr>
            </a:br>
            <a:r>
              <a:rPr lang="en-US" dirty="0">
                <a:cs typeface="+mj-cs"/>
              </a:rPr>
              <a:t>.</a:t>
            </a:r>
            <a:r>
              <a:rPr lang="en-US" dirty="0" err="1">
                <a:cs typeface="+mj-cs"/>
              </a:rPr>
              <a:t>Data_Base</a:t>
            </a:r>
            <a:r>
              <a:rPr lang="en-US" dirty="0">
                <a:cs typeface="+mj-cs"/>
              </a:rPr>
              <a:t> $\</a:t>
            </a:r>
            <a:r>
              <a:rPr lang="en-US" dirty="0" err="1">
                <a:cs typeface="+mj-cs"/>
              </a:rPr>
              <a:t>leftrightarrow</a:t>
            </a:r>
            <a:r>
              <a:rPr lang="en-US" dirty="0">
                <a:cs typeface="+mj-cs"/>
              </a:rPr>
              <a:t>$ </a:t>
            </a:r>
            <a:r>
              <a:rPr lang="en-US" dirty="0" err="1">
                <a:cs typeface="+mj-cs"/>
              </a:rPr>
              <a:t>items_dataset</a:t>
            </a:r>
            <a:r>
              <a:rPr lang="en-US" dirty="0">
                <a:cs typeface="+mj-cs"/>
              </a:rPr>
              <a:t>: Joined on </a:t>
            </a:r>
            <a:r>
              <a:rPr lang="en-US" dirty="0" err="1">
                <a:cs typeface="+mj-cs"/>
              </a:rPr>
              <a:t>order_id</a:t>
            </a:r>
            <a:r>
              <a:rPr lang="en-US" dirty="0">
                <a:cs typeface="+mj-cs"/>
              </a:rPr>
              <a:t> to link product prices and freight costs.</a:t>
            </a:r>
            <a:br>
              <a:rPr lang="ar-EG" dirty="0">
                <a:cs typeface="+mj-cs"/>
              </a:rPr>
            </a:br>
            <a:br>
              <a:rPr lang="ar-EG" dirty="0">
                <a:cs typeface="+mj-cs"/>
              </a:rPr>
            </a:br>
            <a:r>
              <a:rPr lang="en-US" dirty="0">
                <a:cs typeface="+mj-cs"/>
              </a:rPr>
              <a:t>Business </a:t>
            </a:r>
            <a:r>
              <a:rPr lang="en-US" dirty="0" err="1">
                <a:cs typeface="+mj-cs"/>
              </a:rPr>
              <a:t>ImpactOptimizes</a:t>
            </a:r>
            <a:r>
              <a:rPr lang="en-US" dirty="0">
                <a:cs typeface="+mj-cs"/>
              </a:rPr>
              <a:t> memory performance and enables flexible DAX measures across multiple dimensions</a:t>
            </a:r>
            <a:r>
              <a:rPr lang="ar-EG" dirty="0">
                <a:cs typeface="+mj-cs"/>
              </a:rPr>
              <a:t> </a:t>
            </a:r>
            <a:r>
              <a:rPr lang="en-US" dirty="0">
                <a:cs typeface="+mj-cs"/>
              </a:rPr>
              <a:t>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A5E6F4F-E253-BC3E-C124-C3DDC7986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76" y="2088297"/>
            <a:ext cx="11267726" cy="717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6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94" y="1257300"/>
            <a:ext cx="18288000" cy="1046782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ctr"/>
            <a:endParaRPr lang="en-US" sz="36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35" name="Group 3">
            <a:extLst>
              <a:ext uri="{FF2B5EF4-FFF2-40B4-BE49-F238E27FC236}">
                <a16:creationId xmlns:a16="http://schemas.microsoft.com/office/drawing/2014/main" id="{9EC075C9-F0E1-69FC-ADFB-9578F3190A75}"/>
              </a:ext>
            </a:extLst>
          </p:cNvPr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36" name="Freeform 4">
              <a:extLst>
                <a:ext uri="{FF2B5EF4-FFF2-40B4-BE49-F238E27FC236}">
                  <a16:creationId xmlns:a16="http://schemas.microsoft.com/office/drawing/2014/main" id="{F3AAECAA-7945-37B6-6FBA-E200759AB944}"/>
                </a:ext>
              </a:extLst>
            </p:cNvPr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C6CBBB86-A8F7-3BDA-6AF0-28E664F5ACA0}"/>
                </a:ext>
              </a:extLst>
            </p:cNvPr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265" y="-2094570"/>
            <a:ext cx="6792707" cy="1212523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D141B8D-339D-9941-E4B6-0045E4D74D41}"/>
              </a:ext>
            </a:extLst>
          </p:cNvPr>
          <p:cNvSpPr txBox="1"/>
          <p:nvPr/>
        </p:nvSpPr>
        <p:spPr>
          <a:xfrm>
            <a:off x="6792707" y="192755"/>
            <a:ext cx="11334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DAX Measures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F43E8-37FC-B12E-0E88-947AD071E617}"/>
              </a:ext>
            </a:extLst>
          </p:cNvPr>
          <p:cNvSpPr txBox="1"/>
          <p:nvPr/>
        </p:nvSpPr>
        <p:spPr>
          <a:xfrm>
            <a:off x="0" y="192755"/>
            <a:ext cx="679270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DAX Measures</a:t>
            </a:r>
            <a:r>
              <a:rPr lang="ar-EG" sz="1800" dirty="0"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  <a:br>
              <a:rPr lang="ar-E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ar-E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/>
              <a:t>Key Objective</a:t>
            </a:r>
            <a:r>
              <a:rPr lang="en-US" dirty="0"/>
              <a:t> Applied DAX (Data Analysis Expressions) to dynamically calculate critical business KPIs and power analytical insights without cluttering the data model with calculated columns.</a:t>
            </a:r>
            <a:br>
              <a:rPr lang="ar-EG" dirty="0"/>
            </a:br>
            <a:endParaRPr lang="en-US" dirty="0"/>
          </a:p>
          <a:p>
            <a:r>
              <a:rPr lang="en-US" b="1" dirty="0"/>
              <a:t>Core Analytical Domains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Financial Reconciliation</a:t>
            </a:r>
            <a:r>
              <a:rPr lang="en-US" dirty="0"/>
              <a:t> Defined Total Revenue ($15.42M), Expected Revenue ($15.73M), and trackable Reconciliation % (97.99%).</a:t>
            </a:r>
            <a:br>
              <a:rPr lang="ar-EG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Profitability &amp; Value</a:t>
            </a:r>
            <a:r>
              <a:rPr lang="en-US" dirty="0"/>
              <a:t> Modeled Net Profit ($11.02M), Gross Margin (71.49%), and Average Order Value ($155).</a:t>
            </a:r>
            <a:br>
              <a:rPr lang="ar-EG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Fulfillment &amp; Operations</a:t>
            </a:r>
            <a:r>
              <a:rPr lang="en-US" dirty="0"/>
              <a:t> Measured Total Delivered Orders (96.48K / 97.02%), Late Deliveries (7.83K orders / 10-day avg delay), and Cancellation Loss ($105.88K).</a:t>
            </a:r>
            <a:br>
              <a:rPr lang="ar-EG" dirty="0"/>
            </a:br>
            <a:endParaRPr lang="en-US" dirty="0"/>
          </a:p>
          <a:p>
            <a:r>
              <a:rPr lang="en-US" b="1" dirty="0"/>
              <a:t>Business Value</a:t>
            </a:r>
            <a:r>
              <a:rPr lang="en-US" dirty="0"/>
              <a:t> Provides high-performance aggregation across 99.4K orders, enabling interactive filtering and accurate root-cause analysis for executive decision-making.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6C836A-20F3-9DE2-9184-18A649019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530" y="1397333"/>
            <a:ext cx="11405205" cy="579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27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57175" y="4502250"/>
            <a:ext cx="18802350" cy="2006600"/>
            <a:chOff x="0" y="0"/>
            <a:chExt cx="4952059" cy="5284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52059" cy="528487"/>
            </a:xfrm>
            <a:custGeom>
              <a:avLst/>
              <a:gdLst/>
              <a:ahLst/>
              <a:cxnLst/>
              <a:rect l="l" t="t" r="r" b="b"/>
              <a:pathLst>
                <a:path w="4952059" h="528487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69038" y="1884385"/>
            <a:ext cx="13580561" cy="892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sz="4400" b="1" dirty="0" err="1">
                <a:latin typeface="Poppins" panose="00000500000000000000" pitchFamily="2" charset="0"/>
                <a:cs typeface="Poppins" panose="00000500000000000000" pitchFamily="2" charset="0"/>
              </a:rPr>
              <a:t>Olist</a:t>
            </a:r>
            <a:r>
              <a:rPr lang="en-US" sz="4400" b="1" dirty="0">
                <a:latin typeface="Poppins" panose="00000500000000000000" pitchFamily="2" charset="0"/>
                <a:cs typeface="Poppins" panose="00000500000000000000" pitchFamily="2" charset="0"/>
              </a:rPr>
              <a:t> E-Commerce Dashboard</a:t>
            </a:r>
            <a:r>
              <a:rPr lang="en-US" sz="4400" b="1" dirty="0">
                <a:solidFill>
                  <a:srgbClr val="303642"/>
                </a:solidFill>
                <a:latin typeface="Poppins" panose="00000500000000000000" pitchFamily="2" charset="0"/>
                <a:ea typeface="Roboto Bold"/>
                <a:cs typeface="Poppins" panose="00000500000000000000" pitchFamily="2" charset="0"/>
                <a:sym typeface="Roboto Bold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71087" y="2794493"/>
            <a:ext cx="8145827" cy="383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Cleaning &amp; Modeling to Actionable Business Insights.</a:t>
            </a:r>
            <a:endParaRPr lang="en-US" sz="2219" dirty="0">
              <a:solidFill>
                <a:srgbClr val="303642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7839" y="5029897"/>
            <a:ext cx="5245086" cy="829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2400" b="1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League Spartan"/>
                <a:sym typeface="League Spartan"/>
              </a:rPr>
              <a:t>Financial Performance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2993" y="5029897"/>
            <a:ext cx="4682012" cy="829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2400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League Spartan"/>
                <a:sym typeface="League Spartan"/>
              </a:rPr>
              <a:t>Order Breakdown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55074" y="5029897"/>
            <a:ext cx="5790101" cy="829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2400" b="1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League Spartan"/>
                <a:sym typeface="League Spartan"/>
              </a:rPr>
              <a:t>Delivery &amp; Logistics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7178" y="7356575"/>
            <a:ext cx="4247608" cy="157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 dirty="0">
                <a:solidFill>
                  <a:srgbClr val="303642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Tracks total revenue ($15.42M), net profit, payment methods, installment distributions, and resolves monthly financial reconciliation anomalies.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18128" y="7356575"/>
            <a:ext cx="4247608" cy="1955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 dirty="0">
                <a:solidFill>
                  <a:srgbClr val="303642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Analyzes total order volume (99.4K orders), delivery completion rates (97.02%), Average Order Value ($155.06), and customer payment behaviors.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63214" y="7356575"/>
            <a:ext cx="4247608" cy="1557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 dirty="0">
                <a:solidFill>
                  <a:srgbClr val="303642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Monitors SLA compliance, avg delay times (10 days), revenue impact of delayed shipments ($1.35M), and carrier performance timelines.</a:t>
            </a:r>
          </a:p>
        </p:txBody>
      </p:sp>
    </p:spTree>
    <p:extLst>
      <p:ext uri="{BB962C8B-B14F-4D97-AF65-F5344CB8AC3E}">
        <p14:creationId xmlns:p14="http://schemas.microsoft.com/office/powerpoint/2010/main" val="50937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490" y="0"/>
            <a:ext cx="18288000" cy="1046782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ctr"/>
            <a:endParaRPr lang="en-US" sz="36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A749DC4F-0139-5839-3A0A-F392F7ADE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788" y="1059597"/>
            <a:ext cx="11333131" cy="9222851"/>
          </a:xfrm>
          <a:prstGeom prst="rect">
            <a:avLst/>
          </a:prstGeom>
        </p:spPr>
      </p:pic>
      <p:sp>
        <p:nvSpPr>
          <p:cNvPr id="38" name="Rectangle 13">
            <a:extLst>
              <a:ext uri="{FF2B5EF4-FFF2-40B4-BE49-F238E27FC236}">
                <a16:creationId xmlns:a16="http://schemas.microsoft.com/office/drawing/2014/main" id="{EAE8C818-2B43-B60F-D1A3-8D3288E19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94" y="17504"/>
            <a:ext cx="64721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Scope:</a:t>
            </a:r>
            <a:b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Comprehensive performance analysis for 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years (2016 – 2018)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sales growth, net profitability, and operational efficiency.</a:t>
            </a:r>
            <a:br>
              <a:rPr lang="ar-EG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Highlights: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$15.42M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Total Revenue with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$11.02M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Net Profit, achieving a strong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71.49% Gross Margin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ar-EG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Scale: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Delivered orders scaled dramatically from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267 orders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2016 to over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52,000 orders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2018, improving fulfillment success to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97.73%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ar-EG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Context: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late-2018 volume drop is identified as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Truncation Effect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(cutoff date in September 2018) rather than an operational decline.</a:t>
            </a:r>
            <a:br>
              <a:rPr lang="ar-EG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F7A7D7-90CE-3206-49C1-6E18566DF670}"/>
              </a:ext>
            </a:extLst>
          </p:cNvPr>
          <p:cNvSpPr txBox="1"/>
          <p:nvPr/>
        </p:nvSpPr>
        <p:spPr>
          <a:xfrm>
            <a:off x="148921" y="4187676"/>
            <a:ext cx="647211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ar-EG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lang="ar-E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ar-E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Data &amp; Reconciliation Gaps: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Resolve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bugs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the Revenue Gap: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Expedite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processing and address cancellations to minimize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$315K Revenue Gap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ar-E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Capitalize on Gross Margin: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Reinvest a portion of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71.49% Gross Margin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targeted marketing campaigns and promotional offers to drive further acquisition.</a:t>
            </a:r>
            <a:br>
              <a:rPr lang="ar-E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Payment Mix: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Incentive customers toward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Debit Cards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diversify payment methods and lower high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processing fees.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FD2A5D-34B0-9C7C-A8D9-655609E79133}"/>
              </a:ext>
            </a:extLst>
          </p:cNvPr>
          <p:cNvSpPr txBox="1"/>
          <p:nvPr/>
        </p:nvSpPr>
        <p:spPr>
          <a:xfrm>
            <a:off x="6819197" y="114300"/>
            <a:ext cx="11442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Financial Performance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94" y="1257300"/>
            <a:ext cx="18288000" cy="1046782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ctr"/>
            <a:endParaRPr lang="en-US" sz="36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4FD2A5D-34B0-9C7C-A8D9-655609E79133}"/>
              </a:ext>
            </a:extLst>
          </p:cNvPr>
          <p:cNvSpPr txBox="1"/>
          <p:nvPr/>
        </p:nvSpPr>
        <p:spPr>
          <a:xfrm>
            <a:off x="6819197" y="114300"/>
            <a:ext cx="11442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Order Breakdown Dashboard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2724FDD-496C-56C2-2772-C2C06ED31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251" y="1257300"/>
            <a:ext cx="11433749" cy="90297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235EEBE-97CE-FA4B-839B-CE5B9698E44F}"/>
              </a:ext>
            </a:extLst>
          </p:cNvPr>
          <p:cNvSpPr txBox="1"/>
          <p:nvPr/>
        </p:nvSpPr>
        <p:spPr>
          <a:xfrm>
            <a:off x="139822" y="139890"/>
            <a:ext cx="646140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Scope: </a:t>
            </a:r>
            <a:endParaRPr lang="en-US" altLang="en-US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Multi-Year Analysis (2016–2018): Evaluated 99,441 total orders to analyze consumer purchasing behavior and order fulfillment stability.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Breakdown: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Card: 75,388 orders (75.8%) — Dominates platform transactions, with 2–5 installments being the primary preference (34,817 orders).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Boleto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19,784 orders (19.9%) — Second most used method, strictly 1-installment cash transactions.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Voucher &amp; Debit Card: Represent 2,739 and 1,527 orders respectively.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Focus: Addressed 625 total cancellations ($105.8K lost revenue), led by Credit Card (432 orders) and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Boleto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(95 orders).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Objective: Balance payment gateway usage by promoting low-cancellation channels (Debit Cards) and mitigating high-cancellation methods (Credit Cards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Boleto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via targeted offers.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912C15-EE12-301F-1C1D-BE7711327E39}"/>
              </a:ext>
            </a:extLst>
          </p:cNvPr>
          <p:cNvSpPr txBox="1"/>
          <p:nvPr/>
        </p:nvSpPr>
        <p:spPr>
          <a:xfrm>
            <a:off x="139822" y="4941204"/>
            <a:ext cx="65838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  <a:cs typeface="+mj-cs"/>
              </a:rPr>
              <a:t> </a:t>
            </a:r>
            <a:r>
              <a:rPr lang="en-US" sz="1800" b="1" u="sng" dirty="0">
                <a:solidFill>
                  <a:schemeClr val="bg1"/>
                </a:solidFill>
                <a:cs typeface="+mj-cs"/>
              </a:rPr>
              <a:t>Recommendations</a:t>
            </a:r>
            <a:r>
              <a:rPr lang="ar-EG" sz="1800" b="1" u="sng" dirty="0">
                <a:solidFill>
                  <a:schemeClr val="bg1"/>
                </a:solidFill>
                <a:cs typeface="+mj-cs"/>
              </a:rPr>
              <a:t>: </a:t>
            </a:r>
            <a:endParaRPr lang="en-US" sz="1800" u="sng" dirty="0">
              <a:solidFill>
                <a:schemeClr val="bg1"/>
              </a:solidFill>
              <a:cs typeface="+mj-cs"/>
            </a:endParaRPr>
          </a:p>
          <a:p>
            <a:r>
              <a:rPr lang="en-US" dirty="0">
                <a:cs typeface="+mj-cs"/>
              </a:rPr>
              <a:t>Mitigate Credit Card Cancellations: Target the most used and canceled method (432 cancellations) with Instant Checkout Discounts (2%–3%) and seamless 0% interest installment plans (2–5 months) to curb impulse drop-</a:t>
            </a:r>
            <a:r>
              <a:rPr lang="en-US" dirty="0" err="1">
                <a:cs typeface="+mj-cs"/>
              </a:rPr>
              <a:t>offs.Shift</a:t>
            </a:r>
            <a:r>
              <a:rPr lang="en-US" dirty="0">
                <a:cs typeface="+mj-cs"/>
              </a:rPr>
              <a:t> Volume to Debit Cards (Payment Balance): Create Cashback campaigns for Debit Cards to balance gateway reliance and drive customers toward low-cancellation channels (only 7 cancellations).Convert </a:t>
            </a:r>
            <a:r>
              <a:rPr lang="en-US" dirty="0" err="1">
                <a:cs typeface="+mj-cs"/>
              </a:rPr>
              <a:t>Boleto</a:t>
            </a:r>
            <a:r>
              <a:rPr lang="en-US" dirty="0">
                <a:cs typeface="+mj-cs"/>
              </a:rPr>
              <a:t> to Instant Payments: Offer immediate incentives (e.g., 5% off) for switching from </a:t>
            </a:r>
            <a:r>
              <a:rPr lang="en-US" dirty="0" err="1">
                <a:cs typeface="+mj-cs"/>
              </a:rPr>
              <a:t>Boleto</a:t>
            </a:r>
            <a:r>
              <a:rPr lang="en-US" dirty="0">
                <a:cs typeface="+mj-cs"/>
              </a:rPr>
              <a:t> (95 cancellations) to direct instant pay, eliminating the 1–3 day delay window where orders </a:t>
            </a:r>
            <a:r>
              <a:rPr lang="en-US" dirty="0" err="1">
                <a:cs typeface="+mj-cs"/>
              </a:rPr>
              <a:t>drop.Optimize</a:t>
            </a:r>
            <a:r>
              <a:rPr lang="en-US" dirty="0">
                <a:cs typeface="+mj-cs"/>
              </a:rPr>
              <a:t> Voucher Workflows: Streamline voucher validation during checkout to resolve technical barriers causing high cancellation rates relative to usage (88 cancellations).</a:t>
            </a:r>
          </a:p>
        </p:txBody>
      </p:sp>
    </p:spTree>
    <p:extLst>
      <p:ext uri="{BB962C8B-B14F-4D97-AF65-F5344CB8AC3E}">
        <p14:creationId xmlns:p14="http://schemas.microsoft.com/office/powerpoint/2010/main" val="18791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94" y="1257300"/>
            <a:ext cx="18288000" cy="1046782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ctr"/>
            <a:endParaRPr lang="en-US" sz="36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4FD2A5D-34B0-9C7C-A8D9-655609E79133}"/>
              </a:ext>
            </a:extLst>
          </p:cNvPr>
          <p:cNvSpPr txBox="1"/>
          <p:nvPr/>
        </p:nvSpPr>
        <p:spPr>
          <a:xfrm>
            <a:off x="6819197" y="114300"/>
            <a:ext cx="11442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Delivery &amp; Logistics Dashboard</a:t>
            </a:r>
            <a:endParaRPr lang="en-US" sz="48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000322-9A3F-4AAC-71E3-912F5190F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001" y="1257300"/>
            <a:ext cx="11301397" cy="8915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A2FBE32-9349-0071-5824-00D9FED876FA}"/>
              </a:ext>
            </a:extLst>
          </p:cNvPr>
          <p:cNvSpPr txBox="1"/>
          <p:nvPr/>
        </p:nvSpPr>
        <p:spPr>
          <a:xfrm>
            <a:off x="33602" y="419100"/>
            <a:ext cx="675910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  <a:cs typeface="+mj-cs"/>
              </a:rPr>
              <a:t>Data Scope :</a:t>
            </a:r>
            <a:endParaRPr lang="ar-EG" u="sng" dirty="0">
              <a:solidFill>
                <a:schemeClr val="bg1"/>
              </a:solidFill>
              <a:cs typeface="+mj-c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cs typeface="+mj-cs"/>
              </a:rPr>
              <a:t>Operational Timeline (2016–2018):</a:t>
            </a:r>
            <a:r>
              <a:rPr lang="en-US" dirty="0">
                <a:cs typeface="+mj-cs"/>
              </a:rPr>
              <a:t> Analyzed multi-year logistics performance to track delivery reliability and fulfillment timelines.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cs typeface="+mj-cs"/>
              </a:rPr>
              <a:t>Volume Breakdown:</a:t>
            </a:r>
            <a:endParaRPr lang="en-US" dirty="0">
              <a:cs typeface="+mj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+mj-cs"/>
              </a:rPr>
              <a:t>Not Late:</a:t>
            </a:r>
            <a:r>
              <a:rPr lang="en-US" dirty="0">
                <a:cs typeface="+mj-cs"/>
              </a:rPr>
              <a:t> </a:t>
            </a:r>
            <a:r>
              <a:rPr lang="en-US" b="1" dirty="0">
                <a:cs typeface="+mj-cs"/>
              </a:rPr>
              <a:t>88,652 orders</a:t>
            </a:r>
            <a:r>
              <a:rPr lang="en-US" dirty="0">
                <a:cs typeface="+mj-cs"/>
              </a:rPr>
              <a:t> delivered on or before the estimated target.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+mj-cs"/>
              </a:rPr>
              <a:t>Late Deliveries:</a:t>
            </a:r>
            <a:r>
              <a:rPr lang="en-US" dirty="0">
                <a:cs typeface="+mj-cs"/>
              </a:rPr>
              <a:t> </a:t>
            </a:r>
            <a:r>
              <a:rPr lang="en-US" b="1" dirty="0">
                <a:cs typeface="+mj-cs"/>
              </a:rPr>
              <a:t>7,826 orders</a:t>
            </a:r>
            <a:r>
              <a:rPr lang="en-US" dirty="0">
                <a:cs typeface="+mj-cs"/>
              </a:rPr>
              <a:t> experienced fulfillment delays.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+mj-cs"/>
              </a:rPr>
              <a:t>Not Delivered:</a:t>
            </a:r>
            <a:r>
              <a:rPr lang="en-US" dirty="0">
                <a:cs typeface="+mj-cs"/>
              </a:rPr>
              <a:t> </a:t>
            </a:r>
            <a:r>
              <a:rPr lang="en-US" b="1" dirty="0">
                <a:cs typeface="+mj-cs"/>
              </a:rPr>
              <a:t>2,963 orders</a:t>
            </a:r>
            <a:r>
              <a:rPr lang="en-US" dirty="0">
                <a:cs typeface="+mj-cs"/>
              </a:rPr>
              <a:t> failed or remained unfulfilled.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cs typeface="+mj-cs"/>
              </a:rPr>
              <a:t>Logistics Bottlenecks &amp; Revenue Loss:</a:t>
            </a:r>
            <a:r>
              <a:rPr lang="en-US" dirty="0">
                <a:cs typeface="+mj-cs"/>
              </a:rPr>
              <a:t> Late orders impacted </a:t>
            </a:r>
            <a:r>
              <a:rPr lang="en-US" b="1" dirty="0">
                <a:cs typeface="+mj-cs"/>
              </a:rPr>
              <a:t>$1.35M in revenue</a:t>
            </a:r>
            <a:r>
              <a:rPr lang="en-US" dirty="0">
                <a:cs typeface="+mj-cs"/>
              </a:rPr>
              <a:t>, with an average delay of </a:t>
            </a:r>
            <a:r>
              <a:rPr lang="en-US" b="1" dirty="0">
                <a:cs typeface="+mj-cs"/>
              </a:rPr>
              <a:t>10 days</a:t>
            </a:r>
            <a:r>
              <a:rPr lang="en-US" dirty="0">
                <a:cs typeface="+mj-cs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cs typeface="+mj-cs"/>
              </a:rPr>
              <a:t>Seasonal Peak Disruptions:</a:t>
            </a:r>
            <a:r>
              <a:rPr lang="en-US" dirty="0">
                <a:cs typeface="+mj-cs"/>
              </a:rPr>
              <a:t> Delays spiked severely in </a:t>
            </a:r>
            <a:r>
              <a:rPr lang="en-US" b="1" dirty="0">
                <a:cs typeface="+mj-cs"/>
              </a:rPr>
              <a:t>March (1,638 late orders / $272.8K revenue affected)</a:t>
            </a:r>
            <a:r>
              <a:rPr lang="en-US" dirty="0">
                <a:cs typeface="+mj-cs"/>
              </a:rPr>
              <a:t> and </a:t>
            </a:r>
            <a:r>
              <a:rPr lang="en-US" b="1" dirty="0">
                <a:cs typeface="+mj-cs"/>
              </a:rPr>
              <a:t>November (1,043 late orders / $173.4K revenue affected)</a:t>
            </a:r>
            <a:r>
              <a:rPr lang="en-US" dirty="0">
                <a:cs typeface="+mj-cs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BDCE96-E34B-88B3-5304-E0A769089358}"/>
              </a:ext>
            </a:extLst>
          </p:cNvPr>
          <p:cNvSpPr txBox="1"/>
          <p:nvPr/>
        </p:nvSpPr>
        <p:spPr>
          <a:xfrm>
            <a:off x="48387" y="4111949"/>
            <a:ext cx="67255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cs typeface="+mj-cs"/>
              </a:rPr>
              <a:t> </a:t>
            </a:r>
            <a:r>
              <a:rPr lang="en-US" sz="1800" b="1" u="sng" dirty="0">
                <a:solidFill>
                  <a:schemeClr val="bg1"/>
                </a:solidFill>
                <a:cs typeface="+mj-cs"/>
              </a:rPr>
              <a:t>Recommendations</a:t>
            </a:r>
            <a:r>
              <a:rPr lang="ar-EG" sz="1800" b="1" dirty="0">
                <a:cs typeface="+mj-cs"/>
              </a:rPr>
              <a:t>: </a:t>
            </a:r>
            <a:br>
              <a:rPr lang="en-US" dirty="0">
                <a:cs typeface="+mj-cs"/>
              </a:rPr>
            </a:br>
            <a:r>
              <a:rPr lang="en-US" dirty="0">
                <a:cs typeface="+mj-cs"/>
              </a:rPr>
              <a:t>Mitigate Peak-Season Delays (Q1 &amp; Q4 Bottlenecks): Partner with regional 3PL logistics carriers to expand capacity during Q1 (March spike) and Q4 (November/Black Friday spike) to reduce the 10-day delay window.</a:t>
            </a:r>
            <a:br>
              <a:rPr lang="en-US" dirty="0">
                <a:cs typeface="+mj-cs"/>
              </a:rPr>
            </a:br>
            <a:r>
              <a:rPr lang="en-US" dirty="0">
                <a:cs typeface="+mj-cs"/>
              </a:rPr>
              <a:t>Recover Revenue at Risk ($1.35M): Implement proactive SMS/Email delivery tracking and automated compensation credits (e.g., $5 shipping voucher) for delayed shipments to protect customer retention.</a:t>
            </a:r>
            <a:br>
              <a:rPr lang="en-US" dirty="0">
                <a:cs typeface="+mj-cs"/>
              </a:rPr>
            </a:br>
            <a:r>
              <a:rPr lang="en-US" dirty="0">
                <a:cs typeface="+mj-cs"/>
              </a:rPr>
              <a:t>Address Non-Delivered Orders (2.9K Orders): Audit carrier performance to identify route-specific failure causes and set dynamic shipping promise dates (SLA adjustments) for high-risk zones.</a:t>
            </a:r>
            <a:br>
              <a:rPr lang="en-US" dirty="0">
                <a:cs typeface="+mj-cs"/>
              </a:rPr>
            </a:br>
            <a:r>
              <a:rPr lang="en-US" dirty="0">
                <a:cs typeface="+mj-cs"/>
              </a:rPr>
              <a:t>SLA Threshold Monitoring: Establish automated backend alerts for shipments exceeding 4 days of transit delay (well below the current 10-day average) to allow manual escalation before orders drop.</a:t>
            </a:r>
          </a:p>
        </p:txBody>
      </p:sp>
    </p:spTree>
    <p:extLst>
      <p:ext uri="{BB962C8B-B14F-4D97-AF65-F5344CB8AC3E}">
        <p14:creationId xmlns:p14="http://schemas.microsoft.com/office/powerpoint/2010/main" val="2206917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00" y="5715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98500" y="3124200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41400" y="3124200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33297" y="3191597"/>
            <a:ext cx="8421405" cy="126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16825" y="6705600"/>
            <a:ext cx="3054350" cy="761278"/>
            <a:chOff x="0" y="0"/>
            <a:chExt cx="804438" cy="2005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4438" cy="200501"/>
            </a:xfrm>
            <a:custGeom>
              <a:avLst/>
              <a:gdLst/>
              <a:ahLst/>
              <a:cxnLst/>
              <a:rect l="l" t="t" r="r" b="b"/>
              <a:pathLst>
                <a:path w="804438" h="200501">
                  <a:moveTo>
                    <a:pt x="100251" y="0"/>
                  </a:moveTo>
                  <a:lnTo>
                    <a:pt x="704187" y="0"/>
                  </a:lnTo>
                  <a:cubicBezTo>
                    <a:pt x="730775" y="0"/>
                    <a:pt x="756275" y="10562"/>
                    <a:pt x="775075" y="29363"/>
                  </a:cubicBezTo>
                  <a:cubicBezTo>
                    <a:pt x="793876" y="48163"/>
                    <a:pt x="804438" y="73662"/>
                    <a:pt x="804438" y="100251"/>
                  </a:cubicBezTo>
                  <a:lnTo>
                    <a:pt x="804438" y="100251"/>
                  </a:lnTo>
                  <a:cubicBezTo>
                    <a:pt x="804438" y="155617"/>
                    <a:pt x="759554" y="200501"/>
                    <a:pt x="704187" y="200501"/>
                  </a:cubicBezTo>
                  <a:lnTo>
                    <a:pt x="100251" y="200501"/>
                  </a:lnTo>
                  <a:cubicBezTo>
                    <a:pt x="44884" y="200501"/>
                    <a:pt x="0" y="155617"/>
                    <a:pt x="0" y="100251"/>
                  </a:cubicBezTo>
                  <a:lnTo>
                    <a:pt x="0" y="100251"/>
                  </a:lnTo>
                  <a:cubicBezTo>
                    <a:pt x="0" y="44884"/>
                    <a:pt x="44884" y="0"/>
                    <a:pt x="10025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04438" cy="248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1389</Words>
  <Application>Microsoft Office PowerPoint</Application>
  <PresentationFormat>Custom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League Spartan</vt:lpstr>
      <vt:lpstr>Arial</vt:lpstr>
      <vt:lpstr>Segoe UI Black</vt:lpstr>
      <vt:lpstr>Calibri</vt:lpstr>
      <vt:lpstr>Aptos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dc:creator>Eslam</dc:creator>
  <cp:lastModifiedBy>islam yasser</cp:lastModifiedBy>
  <cp:revision>14</cp:revision>
  <dcterms:created xsi:type="dcterms:W3CDTF">2006-08-16T00:00:00Z</dcterms:created>
  <dcterms:modified xsi:type="dcterms:W3CDTF">2026-08-15T00:44:46Z</dcterms:modified>
  <dc:identifier>DAHSTEu10LA</dc:identifier>
</cp:coreProperties>
</file>